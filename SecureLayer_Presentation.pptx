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044e5cb-b63c-f538-64ca-7e264e85fe0e}">
          <p14:sldIdLst>
            <p14:sldId id="256"/>
          </p14:sldIdLst>
        </p14:section>
        <p14:section name="Context" id="{0621a159-2ac9-19e5-5dec-509818f97b11}">
          <p14:sldIdLst>
            <p14:sldId id="257"/>
            <p14:sldId id="258"/>
          </p14:sldIdLst>
        </p14:section>
        <p14:section name="Solution" id="{1a035d1c-45f3-2d61-b9f0-3b7939854a0c}">
          <p14:sldIdLst>
            <p14:sldId id="259"/>
            <p14:sldId id="260"/>
          </p14:sldIdLst>
        </p14:section>
        <p14:section name="Deep dive" id="{65f2e07a-3ce1-5678-2fa3-7a67b36221df}">
          <p14:sldIdLst>
            <p14:sldId id="261"/>
            <p14:sldId id="262"/>
            <p14:sldId id="263"/>
            <p14:sldId id="264"/>
            <p14:sldId id="265"/>
          </p14:sldIdLst>
        </p14:section>
        <p14:section name="Close" id="{91e72369-e5f2-9706-a370-6abb0df15582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most systems protect a file until it is opened; SecureLayer keeps protecting it while it is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threats that happen after a user is authenticated and authorised. Conventional DRM and role-based access control cannot see any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not encryption or login; it is everything that happens once the document is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pillars left to right, top to bottom. Emphasise that CamDetection is the novel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tiers. Browser does the AI and rendering; gateway enforces every rule; data tier is encrypted and audited. Only anonymous event labels travel from the camera guard to the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zero-trust principle applied to sharing: every grant is ephemeral and consumable. Replays are rejected by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lightweight models run locally: one counts faces, one spots recording-capable devices. Consent is requested first. We are detecting presence, never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 smoothing plus a hysteresis lock (Schmitt-trigger style) means fast to protect, slow to release. Fast reaction is well under a second for phones and onlookers.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watermark makes any photographed leak attributable to a named viewer and time. Browser-level controls are a deterrent; the camera guard and watermark close the gap that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Defence in depth: encryption at rest, passwordless auth, short-lived rotating sessions, rate limits for OTP and login, role and ownership checks, and a full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novelty is the closed loop: who may open, what happens while open, and what is recorded afterwards, with the physical environment inside the security perimeter.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closed-loop idea and invite questions. Future scope: fine-tuned detector, gaze estimation, managed key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SecureLayer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rgbClr val="F1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SecureLayer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"/>
          <p:cNvSpPr/>
          <p:nvPr/>
        </p:nvSpPr>
        <p:spPr>
          <a:xfrm>
            <a:off x="640080" y="1051560"/>
            <a:ext cx="640080" cy="64008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3" name="log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4" name="text-2"/>
          <p:cNvSpPr txBox="1"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SecureLayer</a:t>
            </a:r>
            <a:endParaRPr lang="en-US" sz="5400" dirty="0"/>
          </a:p>
        </p:txBody>
      </p:sp>
      <p:sp>
        <p:nvSpPr>
          <p:cNvPr id="5" name="text-3"/>
          <p:cNvSpPr txBox="1"/>
          <p:nvPr/>
        </p:nvSpPr>
        <p:spPr>
          <a:xfrm>
            <a:off x="640080" y="2834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8EC"/>
                </a:solidFill>
              </a:rPr>
              <a:t>Protecting confidential documents even while they are being read</a:t>
            </a:r>
            <a:endParaRPr lang="en-US" sz="2200" dirty="0"/>
          </a:p>
        </p:txBody>
      </p:sp>
      <p:sp>
        <p:nvSpPr>
          <p:cNvPr id="6" name="text-4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D3C8"/>
                </a:solidFill>
              </a:rPr>
              <a:t>Zero-trust access   |   Edge-AI threat detection   |   Forensic traceability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Access control ends where viewing begins</a:t>
            </a:r>
            <a:endParaRPr lang="en-US" sz="3200" dirty="0"/>
          </a:p>
        </p:txBody>
      </p:sp>
      <p:sp>
        <p:nvSpPr>
          <p:cNvPr id="3" name="card-5"/>
          <p:cNvSpPr/>
          <p:nvPr/>
        </p:nvSpPr>
        <p:spPr>
          <a:xfrm>
            <a:off x="54864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/>
        </p:spPr>
      </p:sp>
      <p:sp>
        <p:nvSpPr>
          <p:cNvPr id="4" name="badge-6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5" name="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6" name="text-8"/>
          <p:cNvSpPr txBox="1"/>
          <p:nvPr/>
        </p:nvSpPr>
        <p:spPr>
          <a:xfrm>
            <a:off x="7772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</a:rPr>
              <a:t>Screen photography</a:t>
            </a:r>
            <a:endParaRPr lang="en-US" sz="1700" dirty="0"/>
          </a:p>
        </p:txBody>
      </p:sp>
      <p:sp>
        <p:nvSpPr>
          <p:cNvPr id="7" name="text-9"/>
          <p:cNvSpPr txBox="1"/>
          <p:nvPr/>
        </p:nvSpPr>
        <p:spPr>
          <a:xfrm>
            <a:off x="777240" y="306324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A phone aimed at the display bypasses every software control.</a:t>
            </a:r>
            <a:endParaRPr lang="en-US" sz="1400" dirty="0"/>
          </a:p>
        </p:txBody>
      </p:sp>
      <p:sp>
        <p:nvSpPr>
          <p:cNvPr id="8" name="card-10"/>
          <p:cNvSpPr/>
          <p:nvPr/>
        </p:nvSpPr>
        <p:spPr>
          <a:xfrm>
            <a:off x="260604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/>
        </p:spPr>
      </p:sp>
      <p:sp>
        <p:nvSpPr>
          <p:cNvPr id="9" name="badge-11"/>
          <p:cNvSpPr/>
          <p:nvPr/>
        </p:nvSpPr>
        <p:spPr>
          <a:xfrm>
            <a:off x="2834640" y="164592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0" name="icon-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30" y="1794510"/>
            <a:ext cx="297180" cy="297180"/>
          </a:xfrm>
          <a:prstGeom prst="rect">
            <a:avLst/>
          </a:prstGeom>
        </p:spPr>
      </p:pic>
      <p:sp>
        <p:nvSpPr>
          <p:cNvPr id="11" name="text-13"/>
          <p:cNvSpPr txBox="1"/>
          <p:nvPr/>
        </p:nvSpPr>
        <p:spPr>
          <a:xfrm>
            <a:off x="28346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</a:rPr>
              <a:t>Shoulder surfing</a:t>
            </a:r>
            <a:endParaRPr lang="en-US" sz="1700" dirty="0"/>
          </a:p>
        </p:txBody>
      </p:sp>
      <p:sp>
        <p:nvSpPr>
          <p:cNvPr id="12" name="text-14"/>
          <p:cNvSpPr txBox="1"/>
          <p:nvPr/>
        </p:nvSpPr>
        <p:spPr>
          <a:xfrm>
            <a:off x="2834640" y="306324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A second person reads along and nobody notices.</a:t>
            </a:r>
            <a:endParaRPr lang="en-US" sz="1400" dirty="0"/>
          </a:p>
        </p:txBody>
      </p:sp>
      <p:sp>
        <p:nvSpPr>
          <p:cNvPr id="13" name="card-15"/>
          <p:cNvSpPr/>
          <p:nvPr/>
        </p:nvSpPr>
        <p:spPr>
          <a:xfrm>
            <a:off x="466344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/>
        </p:spPr>
      </p:sp>
      <p:sp>
        <p:nvSpPr>
          <p:cNvPr id="14" name="badge-16"/>
          <p:cNvSpPr/>
          <p:nvPr/>
        </p:nvSpPr>
        <p:spPr>
          <a:xfrm>
            <a:off x="4892040" y="164592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5" name="icon-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630" y="1794510"/>
            <a:ext cx="297180" cy="297180"/>
          </a:xfrm>
          <a:prstGeom prst="rect">
            <a:avLst/>
          </a:prstGeom>
        </p:spPr>
      </p:pic>
      <p:sp>
        <p:nvSpPr>
          <p:cNvPr id="16" name="text-18"/>
          <p:cNvSpPr txBox="1"/>
          <p:nvPr/>
        </p:nvSpPr>
        <p:spPr>
          <a:xfrm>
            <a:off x="48920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</a:rPr>
              <a:t>Unattended screens</a:t>
            </a:r>
            <a:endParaRPr lang="en-US" sz="1700" dirty="0"/>
          </a:p>
        </p:txBody>
      </p:sp>
      <p:sp>
        <p:nvSpPr>
          <p:cNvPr id="17" name="text-19"/>
          <p:cNvSpPr txBox="1"/>
          <p:nvPr/>
        </p:nvSpPr>
        <p:spPr>
          <a:xfrm>
            <a:off x="4892040" y="306324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A confidential file stays open after the user walks away.</a:t>
            </a:r>
            <a:endParaRPr lang="en-US" sz="1400" dirty="0"/>
          </a:p>
        </p:txBody>
      </p:sp>
      <p:sp>
        <p:nvSpPr>
          <p:cNvPr id="18" name="card-20"/>
          <p:cNvSpPr/>
          <p:nvPr/>
        </p:nvSpPr>
        <p:spPr>
          <a:xfrm>
            <a:off x="6720840" y="1417320"/>
            <a:ext cx="1874520" cy="2926080"/>
          </a:xfrm>
          <a:prstGeom prst="roundRect">
            <a:avLst>
              <a:gd name="adj" fmla="val 4878"/>
            </a:avLst>
          </a:prstGeom>
          <a:solidFill>
            <a:srgbClr val="F1F5F8"/>
          </a:solidFill>
          <a:ln/>
        </p:spPr>
      </p:sp>
      <p:sp>
        <p:nvSpPr>
          <p:cNvPr id="19" name="badge-21"/>
          <p:cNvSpPr/>
          <p:nvPr/>
        </p:nvSpPr>
        <p:spPr>
          <a:xfrm>
            <a:off x="6949440" y="164592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0" name="icon-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030" y="1794510"/>
            <a:ext cx="297180" cy="297180"/>
          </a:xfrm>
          <a:prstGeom prst="rect">
            <a:avLst/>
          </a:prstGeom>
        </p:spPr>
      </p:pic>
      <p:sp>
        <p:nvSpPr>
          <p:cNvPr id="21" name="text-23"/>
          <p:cNvSpPr txBox="1"/>
          <p:nvPr/>
        </p:nvSpPr>
        <p:spPr>
          <a:xfrm>
            <a:off x="6949440" y="2423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</a:rPr>
              <a:t>Reusable access</a:t>
            </a:r>
            <a:endParaRPr lang="en-US" sz="1700" dirty="0"/>
          </a:p>
        </p:txBody>
      </p:sp>
      <p:sp>
        <p:nvSpPr>
          <p:cNvPr id="22" name="text-24"/>
          <p:cNvSpPr txBox="1"/>
          <p:nvPr/>
        </p:nvSpPr>
        <p:spPr>
          <a:xfrm>
            <a:off x="6949440" y="306324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Shared links and approvals can be forwarded and replayed.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conventional sharing falls short</a:t>
            </a:r>
            <a:endParaRPr lang="en-US" sz="3200" dirty="0"/>
          </a:p>
        </p:txBody>
      </p:sp>
      <p:graphicFrame>
        <p:nvGraphicFramePr>
          <p:cNvPr id="4" name="ga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Conventional sharing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SecureLayer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Permission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Persistent link or role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One-time, owner-approved view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After opening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File can be saved, copied, printed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In-memory only, blocked actions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Physical world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Completely blind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Camera-aware AI guard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Leak attribution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Anonymous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Viewer identity stamped on screen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Login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Passwords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Passwordless one-time code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platform, four coordinated pillars</a:t>
            </a:r>
            <a:endParaRPr lang="en-US" sz="3200" dirty="0"/>
          </a:p>
        </p:txBody>
      </p:sp>
      <p:sp>
        <p:nvSpPr>
          <p:cNvPr id="3" name="card-25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5F8"/>
          </a:solidFill>
          <a:ln/>
        </p:spPr>
      </p:sp>
      <p:sp>
        <p:nvSpPr>
          <p:cNvPr id="4" name="badge-26"/>
          <p:cNvSpPr/>
          <p:nvPr/>
        </p:nvSpPr>
        <p:spPr>
          <a:xfrm>
            <a:off x="777240" y="1755648"/>
            <a:ext cx="640080" cy="640080"/>
          </a:xfrm>
          <a:prstGeom prst="ellipse">
            <a:avLst/>
          </a:prstGeom>
          <a:solidFill>
            <a:srgbClr val="12304A"/>
          </a:solidFill>
          <a:ln/>
        </p:spPr>
      </p:sp>
      <p:pic>
        <p:nvPicPr>
          <p:cNvPr id="5" name="icon-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15668"/>
            <a:ext cx="320040" cy="320040"/>
          </a:xfrm>
          <a:prstGeom prst="rect">
            <a:avLst/>
          </a:prstGeom>
        </p:spPr>
      </p:pic>
      <p:sp>
        <p:nvSpPr>
          <p:cNvPr id="6" name="text-28"/>
          <p:cNvSpPr txBox="1"/>
          <p:nvPr/>
        </p:nvSpPr>
        <p:spPr>
          <a:xfrm>
            <a:off x="16459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Access &amp; Allowance</a:t>
            </a:r>
            <a:endParaRPr lang="en-US" sz="1800" dirty="0"/>
          </a:p>
        </p:txBody>
      </p:sp>
      <p:sp>
        <p:nvSpPr>
          <p:cNvPr id="7" name="text-29"/>
          <p:cNvSpPr txBox="1"/>
          <p:nvPr/>
        </p:nvSpPr>
        <p:spPr>
          <a:xfrm>
            <a:off x="1645920" y="19385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Documents are discoverable but unreadable until the owner approves one single view.</a:t>
            </a:r>
            <a:endParaRPr lang="en-US" sz="1400" dirty="0"/>
          </a:p>
        </p:txBody>
      </p:sp>
      <p:sp>
        <p:nvSpPr>
          <p:cNvPr id="8" name="card-30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5F8"/>
          </a:solidFill>
          <a:ln/>
        </p:spPr>
      </p:sp>
      <p:sp>
        <p:nvSpPr>
          <p:cNvPr id="9" name="badge-31"/>
          <p:cNvSpPr/>
          <p:nvPr/>
        </p:nvSpPr>
        <p:spPr>
          <a:xfrm>
            <a:off x="4892040" y="1755648"/>
            <a:ext cx="640080" cy="640080"/>
          </a:xfrm>
          <a:prstGeom prst="ellipse">
            <a:avLst/>
          </a:prstGeom>
          <a:solidFill>
            <a:srgbClr val="12304A"/>
          </a:solidFill>
          <a:ln/>
        </p:spPr>
      </p:sp>
      <p:pic>
        <p:nvPicPr>
          <p:cNvPr id="10" name="icon-3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915668"/>
            <a:ext cx="320040" cy="320040"/>
          </a:xfrm>
          <a:prstGeom prst="rect">
            <a:avLst/>
          </a:prstGeom>
        </p:spPr>
      </p:pic>
      <p:sp>
        <p:nvSpPr>
          <p:cNvPr id="11" name="text-33"/>
          <p:cNvSpPr txBox="1"/>
          <p:nvPr/>
        </p:nvSpPr>
        <p:spPr>
          <a:xfrm>
            <a:off x="5760720" y="1554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Secure Viewer</a:t>
            </a:r>
            <a:endParaRPr lang="en-US" sz="1800" dirty="0"/>
          </a:p>
        </p:txBody>
      </p:sp>
      <p:sp>
        <p:nvSpPr>
          <p:cNvPr id="12" name="text-34"/>
          <p:cNvSpPr txBox="1"/>
          <p:nvPr/>
        </p:nvSpPr>
        <p:spPr>
          <a:xfrm>
            <a:off x="5760720" y="19385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In-memory rendering with watermarking and blocked copy, print and save.</a:t>
            </a:r>
            <a:endParaRPr lang="en-US" sz="1400" dirty="0"/>
          </a:p>
        </p:txBody>
      </p:sp>
      <p:sp>
        <p:nvSpPr>
          <p:cNvPr id="13" name="card-35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5F8"/>
          </a:solidFill>
          <a:ln/>
        </p:spPr>
      </p:sp>
      <p:sp>
        <p:nvSpPr>
          <p:cNvPr id="14" name="badge-36"/>
          <p:cNvSpPr/>
          <p:nvPr/>
        </p:nvSpPr>
        <p:spPr>
          <a:xfrm>
            <a:off x="777240" y="3355848"/>
            <a:ext cx="640080" cy="64008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15" name="icon-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515868"/>
            <a:ext cx="320040" cy="320040"/>
          </a:xfrm>
          <a:prstGeom prst="rect">
            <a:avLst/>
          </a:prstGeom>
        </p:spPr>
      </p:pic>
      <p:sp>
        <p:nvSpPr>
          <p:cNvPr id="16" name="text-38"/>
          <p:cNvSpPr txBox="1"/>
          <p:nvPr/>
        </p:nvSpPr>
        <p:spPr>
          <a:xfrm>
            <a:off x="16459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CamDetection</a:t>
            </a:r>
            <a:endParaRPr lang="en-US" sz="1800" dirty="0"/>
          </a:p>
        </p:txBody>
      </p:sp>
      <p:sp>
        <p:nvSpPr>
          <p:cNvPr id="17" name="text-39"/>
          <p:cNvSpPr txBox="1"/>
          <p:nvPr/>
        </p:nvSpPr>
        <p:spPr>
          <a:xfrm>
            <a:off x="1645920" y="3538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On-device AI watches for onlookers, phones and absence, then shields the screen.</a:t>
            </a:r>
            <a:endParaRPr lang="en-US" sz="1400" dirty="0"/>
          </a:p>
        </p:txBody>
      </p:sp>
      <p:sp>
        <p:nvSpPr>
          <p:cNvPr id="18" name="card-40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1F5F8"/>
          </a:solidFill>
          <a:ln/>
        </p:spPr>
      </p:sp>
      <p:sp>
        <p:nvSpPr>
          <p:cNvPr id="19" name="badge-41"/>
          <p:cNvSpPr/>
          <p:nvPr/>
        </p:nvSpPr>
        <p:spPr>
          <a:xfrm>
            <a:off x="4892040" y="3355848"/>
            <a:ext cx="640080" cy="640080"/>
          </a:xfrm>
          <a:prstGeom prst="ellipse">
            <a:avLst/>
          </a:prstGeom>
          <a:solidFill>
            <a:srgbClr val="12304A"/>
          </a:solidFill>
          <a:ln/>
        </p:spPr>
      </p:sp>
      <p:pic>
        <p:nvPicPr>
          <p:cNvPr id="20" name="icon-4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515868"/>
            <a:ext cx="320040" cy="320040"/>
          </a:xfrm>
          <a:prstGeom prst="rect">
            <a:avLst/>
          </a:prstGeom>
        </p:spPr>
      </p:pic>
      <p:sp>
        <p:nvSpPr>
          <p:cNvPr id="21" name="text-43"/>
          <p:cNvSpPr txBox="1"/>
          <p:nvPr/>
        </p:nvSpPr>
        <p:spPr>
          <a:xfrm>
            <a:off x="57607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Hardened Backend</a:t>
            </a:r>
            <a:endParaRPr lang="en-US" sz="1800" dirty="0"/>
          </a:p>
        </p:txBody>
      </p:sp>
      <p:sp>
        <p:nvSpPr>
          <p:cNvPr id="22" name="text-44"/>
          <p:cNvSpPr txBox="1"/>
          <p:nvPr/>
        </p:nvSpPr>
        <p:spPr>
          <a:xfrm>
            <a:off x="5760720" y="35387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Passwordless login, encrypted storage, rate limiting and an immutable audit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card-45"/>
          <p:cNvSpPr/>
          <p:nvPr/>
        </p:nvSpPr>
        <p:spPr>
          <a:xfrm>
            <a:off x="548640" y="1371600"/>
            <a:ext cx="2468880" cy="2834640"/>
          </a:xfrm>
          <a:prstGeom prst="roundRect">
            <a:avLst>
              <a:gd name="adj" fmla="val 3704"/>
            </a:avLst>
          </a:prstGeom>
          <a:solidFill>
            <a:srgbClr val="12304A"/>
          </a:solidFill>
          <a:ln/>
        </p:spPr>
      </p:sp>
      <p:sp>
        <p:nvSpPr>
          <p:cNvPr id="4" name="text-46"/>
          <p:cNvSpPr txBox="1"/>
          <p:nvPr/>
        </p:nvSpPr>
        <p:spPr>
          <a:xfrm>
            <a:off x="73152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Browser</a:t>
            </a:r>
            <a:endParaRPr lang="en-US" sz="1800" dirty="0"/>
          </a:p>
        </p:txBody>
      </p:sp>
      <p:sp>
        <p:nvSpPr>
          <p:cNvPr id="5" name="card-47"/>
          <p:cNvSpPr/>
          <p:nvPr/>
        </p:nvSpPr>
        <p:spPr>
          <a:xfrm>
            <a:off x="731520" y="2057400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6" name="text-48"/>
          <p:cNvSpPr txBox="1"/>
          <p:nvPr/>
        </p:nvSpPr>
        <p:spPr>
          <a:xfrm>
            <a:off x="841248" y="2057400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Access &amp; directory UI</a:t>
            </a:r>
            <a:endParaRPr lang="en-US" sz="1400" dirty="0"/>
          </a:p>
        </p:txBody>
      </p:sp>
      <p:sp>
        <p:nvSpPr>
          <p:cNvPr id="7" name="card-49"/>
          <p:cNvSpPr/>
          <p:nvPr/>
        </p:nvSpPr>
        <p:spPr>
          <a:xfrm>
            <a:off x="731520" y="2770632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8" name="text-50"/>
          <p:cNvSpPr txBox="1"/>
          <p:nvPr/>
        </p:nvSpPr>
        <p:spPr>
          <a:xfrm>
            <a:off x="841248" y="2770632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Secure viewer + watermark</a:t>
            </a:r>
            <a:endParaRPr lang="en-US" sz="1400" dirty="0"/>
          </a:p>
        </p:txBody>
      </p:sp>
      <p:sp>
        <p:nvSpPr>
          <p:cNvPr id="9" name="card-51"/>
          <p:cNvSpPr/>
          <p:nvPr/>
        </p:nvSpPr>
        <p:spPr>
          <a:xfrm>
            <a:off x="731520" y="3483864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0" name="text-52"/>
          <p:cNvSpPr txBox="1"/>
          <p:nvPr/>
        </p:nvSpPr>
        <p:spPr>
          <a:xfrm>
            <a:off x="841248" y="3483864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Edge-AI camera guard</a:t>
            </a:r>
            <a:endParaRPr lang="en-US" sz="1400" dirty="0"/>
          </a:p>
        </p:txBody>
      </p:sp>
      <p:sp>
        <p:nvSpPr>
          <p:cNvPr id="11" name="card-53"/>
          <p:cNvSpPr/>
          <p:nvPr/>
        </p:nvSpPr>
        <p:spPr>
          <a:xfrm>
            <a:off x="3337560" y="1371600"/>
            <a:ext cx="2468880" cy="2834640"/>
          </a:xfrm>
          <a:prstGeom prst="roundRect">
            <a:avLst>
              <a:gd name="adj" fmla="val 3704"/>
            </a:avLst>
          </a:prstGeom>
          <a:solidFill>
            <a:srgbClr val="14A3A3"/>
          </a:solidFill>
          <a:ln/>
        </p:spPr>
      </p:sp>
      <p:sp>
        <p:nvSpPr>
          <p:cNvPr id="12" name="text-54"/>
          <p:cNvSpPr txBox="1"/>
          <p:nvPr/>
        </p:nvSpPr>
        <p:spPr>
          <a:xfrm>
            <a:off x="352044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13" name="card-55"/>
          <p:cNvSpPr/>
          <p:nvPr/>
        </p:nvSpPr>
        <p:spPr>
          <a:xfrm>
            <a:off x="3520440" y="2057400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4" name="text-56"/>
          <p:cNvSpPr txBox="1"/>
          <p:nvPr/>
        </p:nvSpPr>
        <p:spPr>
          <a:xfrm>
            <a:off x="3630168" y="2057400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Shielding &amp; rate limits</a:t>
            </a:r>
            <a:endParaRPr lang="en-US" sz="1400" dirty="0"/>
          </a:p>
        </p:txBody>
      </p:sp>
      <p:sp>
        <p:nvSpPr>
          <p:cNvPr id="15" name="card-57"/>
          <p:cNvSpPr/>
          <p:nvPr/>
        </p:nvSpPr>
        <p:spPr>
          <a:xfrm>
            <a:off x="3520440" y="2770632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6" name="text-58"/>
          <p:cNvSpPr txBox="1"/>
          <p:nvPr/>
        </p:nvSpPr>
        <p:spPr>
          <a:xfrm>
            <a:off x="3630168" y="2770632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Identity &amp; roles</a:t>
            </a:r>
            <a:endParaRPr lang="en-US" sz="1400" dirty="0"/>
          </a:p>
        </p:txBody>
      </p:sp>
      <p:sp>
        <p:nvSpPr>
          <p:cNvPr id="17" name="card-59"/>
          <p:cNvSpPr/>
          <p:nvPr/>
        </p:nvSpPr>
        <p:spPr>
          <a:xfrm>
            <a:off x="3520440" y="3483864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8" name="text-60"/>
          <p:cNvSpPr txBox="1"/>
          <p:nvPr/>
        </p:nvSpPr>
        <p:spPr>
          <a:xfrm>
            <a:off x="3630168" y="3483864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One-time permission check</a:t>
            </a:r>
            <a:endParaRPr lang="en-US" sz="1400" dirty="0"/>
          </a:p>
        </p:txBody>
      </p:sp>
      <p:sp>
        <p:nvSpPr>
          <p:cNvPr id="19" name="card-61"/>
          <p:cNvSpPr/>
          <p:nvPr/>
        </p:nvSpPr>
        <p:spPr>
          <a:xfrm>
            <a:off x="6126480" y="1371600"/>
            <a:ext cx="2468880" cy="2834640"/>
          </a:xfrm>
          <a:prstGeom prst="roundRect">
            <a:avLst>
              <a:gd name="adj" fmla="val 3704"/>
            </a:avLst>
          </a:prstGeom>
          <a:solidFill>
            <a:srgbClr val="0B3C5D"/>
          </a:solidFill>
          <a:ln/>
        </p:spPr>
      </p:sp>
      <p:sp>
        <p:nvSpPr>
          <p:cNvPr id="20" name="text-62"/>
          <p:cNvSpPr txBox="1"/>
          <p:nvPr/>
        </p:nvSpPr>
        <p:spPr>
          <a:xfrm>
            <a:off x="630936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Protected data</a:t>
            </a:r>
            <a:endParaRPr lang="en-US" sz="1800" dirty="0"/>
          </a:p>
        </p:txBody>
      </p:sp>
      <p:sp>
        <p:nvSpPr>
          <p:cNvPr id="21" name="card-63"/>
          <p:cNvSpPr/>
          <p:nvPr/>
        </p:nvSpPr>
        <p:spPr>
          <a:xfrm>
            <a:off x="6309360" y="2057400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2" name="text-64"/>
          <p:cNvSpPr txBox="1"/>
          <p:nvPr/>
        </p:nvSpPr>
        <p:spPr>
          <a:xfrm>
            <a:off x="6419088" y="2057400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Encrypted file vault</a:t>
            </a:r>
            <a:endParaRPr lang="en-US" sz="1400" dirty="0"/>
          </a:p>
        </p:txBody>
      </p:sp>
      <p:sp>
        <p:nvSpPr>
          <p:cNvPr id="23" name="card-65"/>
          <p:cNvSpPr/>
          <p:nvPr/>
        </p:nvSpPr>
        <p:spPr>
          <a:xfrm>
            <a:off x="6309360" y="2770632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4" name="text-66"/>
          <p:cNvSpPr txBox="1"/>
          <p:nvPr/>
        </p:nvSpPr>
        <p:spPr>
          <a:xfrm>
            <a:off x="6419088" y="2770632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Users &amp; access records</a:t>
            </a:r>
            <a:endParaRPr lang="en-US" sz="1400" dirty="0"/>
          </a:p>
        </p:txBody>
      </p:sp>
      <p:sp>
        <p:nvSpPr>
          <p:cNvPr id="25" name="card-67"/>
          <p:cNvSpPr/>
          <p:nvPr/>
        </p:nvSpPr>
        <p:spPr>
          <a:xfrm>
            <a:off x="6309360" y="3483864"/>
            <a:ext cx="21031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6" name="text-68"/>
          <p:cNvSpPr txBox="1"/>
          <p:nvPr/>
        </p:nvSpPr>
        <p:spPr>
          <a:xfrm>
            <a:off x="6419088" y="3483864"/>
            <a:ext cx="1883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</a:rPr>
              <a:t>Immutable audit trail</a:t>
            </a:r>
            <a:endParaRPr lang="en-US" sz="1400" dirty="0"/>
          </a:p>
        </p:txBody>
      </p:sp>
      <p:sp>
        <p:nvSpPr>
          <p:cNvPr id="27" name="arrow-69"/>
          <p:cNvSpPr/>
          <p:nvPr/>
        </p:nvSpPr>
        <p:spPr>
          <a:xfrm>
            <a:off x="3017520" y="2606040"/>
            <a:ext cx="274320" cy="274320"/>
          </a:xfrm>
          <a:prstGeom prst="rightArrow">
            <a:avLst/>
          </a:prstGeom>
          <a:solidFill>
            <a:srgbClr val="6B7C8C"/>
          </a:solidFill>
          <a:ln/>
        </p:spPr>
      </p:sp>
      <p:sp>
        <p:nvSpPr>
          <p:cNvPr id="28" name="arrow-70"/>
          <p:cNvSpPr/>
          <p:nvPr/>
        </p:nvSpPr>
        <p:spPr>
          <a:xfrm>
            <a:off x="5806440" y="2606040"/>
            <a:ext cx="274320" cy="274320"/>
          </a:xfrm>
          <a:prstGeom prst="rightArrow">
            <a:avLst/>
          </a:prstGeom>
          <a:solidFill>
            <a:srgbClr val="6B7C8C"/>
          </a:solidFill>
          <a:ln/>
        </p:spPr>
      </p:sp>
      <p:sp>
        <p:nvSpPr>
          <p:cNvPr id="29" name="text-71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</a:rPr>
              <a:t>Camera data never leaves the browser. Files are decrypted only after every check passes.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Access that consumes itself</a:t>
            </a:r>
            <a:endParaRPr lang="en-US" sz="3200" dirty="0"/>
          </a:p>
        </p:txBody>
      </p:sp>
      <p:sp>
        <p:nvSpPr>
          <p:cNvPr id="3" name="badge-72"/>
          <p:cNvSpPr/>
          <p:nvPr/>
        </p:nvSpPr>
        <p:spPr>
          <a:xfrm>
            <a:off x="1097280" y="1463040"/>
            <a:ext cx="777240" cy="77724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4" name="icon-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1657350"/>
            <a:ext cx="388620" cy="388620"/>
          </a:xfrm>
          <a:prstGeom prst="rect">
            <a:avLst/>
          </a:prstGeom>
        </p:spPr>
      </p:pic>
      <p:sp>
        <p:nvSpPr>
          <p:cNvPr id="5" name="arrow-74"/>
          <p:cNvSpPr/>
          <p:nvPr/>
        </p:nvSpPr>
        <p:spPr>
          <a:xfrm>
            <a:off x="2103120" y="1737360"/>
            <a:ext cx="320040" cy="228600"/>
          </a:xfrm>
          <a:prstGeom prst="rightArrow">
            <a:avLst/>
          </a:prstGeom>
          <a:solidFill>
            <a:srgbClr val="C5D0D8"/>
          </a:solidFill>
          <a:ln/>
        </p:spPr>
      </p:sp>
      <p:sp>
        <p:nvSpPr>
          <p:cNvPr id="6" name="text-75"/>
          <p:cNvSpPr txBox="1"/>
          <p:nvPr/>
        </p:nvSpPr>
        <p:spPr>
          <a:xfrm>
            <a:off x="54864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Request</a:t>
            </a:r>
            <a:endParaRPr lang="en-US" sz="1800" dirty="0"/>
          </a:p>
        </p:txBody>
      </p:sp>
      <p:sp>
        <p:nvSpPr>
          <p:cNvPr id="7" name="text-76"/>
          <p:cNvSpPr txBox="1"/>
          <p:nvPr/>
        </p:nvSpPr>
        <p:spPr>
          <a:xfrm>
            <a:off x="640080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User asks for a file they can see in the directory.</a:t>
            </a:r>
            <a:endParaRPr lang="en-US" sz="1400" dirty="0"/>
          </a:p>
        </p:txBody>
      </p:sp>
      <p:sp>
        <p:nvSpPr>
          <p:cNvPr id="8" name="badge-77"/>
          <p:cNvSpPr/>
          <p:nvPr/>
        </p:nvSpPr>
        <p:spPr>
          <a:xfrm>
            <a:off x="3154680" y="1463040"/>
            <a:ext cx="777240" cy="77724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9" name="icon-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90" y="1657350"/>
            <a:ext cx="388620" cy="388620"/>
          </a:xfrm>
          <a:prstGeom prst="rect">
            <a:avLst/>
          </a:prstGeom>
        </p:spPr>
      </p:pic>
      <p:sp>
        <p:nvSpPr>
          <p:cNvPr id="10" name="arrow-79"/>
          <p:cNvSpPr/>
          <p:nvPr/>
        </p:nvSpPr>
        <p:spPr>
          <a:xfrm>
            <a:off x="4160520" y="1737360"/>
            <a:ext cx="320040" cy="228600"/>
          </a:xfrm>
          <a:prstGeom prst="rightArrow">
            <a:avLst/>
          </a:prstGeom>
          <a:solidFill>
            <a:srgbClr val="C5D0D8"/>
          </a:solidFill>
          <a:ln/>
        </p:spPr>
      </p:sp>
      <p:sp>
        <p:nvSpPr>
          <p:cNvPr id="11" name="text-80"/>
          <p:cNvSpPr txBox="1"/>
          <p:nvPr/>
        </p:nvSpPr>
        <p:spPr>
          <a:xfrm>
            <a:off x="260604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Approve</a:t>
            </a:r>
            <a:endParaRPr lang="en-US" sz="1800" dirty="0"/>
          </a:p>
        </p:txBody>
      </p:sp>
      <p:sp>
        <p:nvSpPr>
          <p:cNvPr id="12" name="text-81"/>
          <p:cNvSpPr txBox="1"/>
          <p:nvPr/>
        </p:nvSpPr>
        <p:spPr>
          <a:xfrm>
            <a:off x="2697480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Only the owner or an admin can grant access.</a:t>
            </a:r>
            <a:endParaRPr lang="en-US" sz="1400" dirty="0"/>
          </a:p>
        </p:txBody>
      </p:sp>
      <p:sp>
        <p:nvSpPr>
          <p:cNvPr id="13" name="badge-82"/>
          <p:cNvSpPr/>
          <p:nvPr/>
        </p:nvSpPr>
        <p:spPr>
          <a:xfrm>
            <a:off x="5212080" y="1463040"/>
            <a:ext cx="777240" cy="77724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14" name="icon-8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90" y="1657350"/>
            <a:ext cx="388620" cy="388620"/>
          </a:xfrm>
          <a:prstGeom prst="rect">
            <a:avLst/>
          </a:prstGeom>
        </p:spPr>
      </p:pic>
      <p:sp>
        <p:nvSpPr>
          <p:cNvPr id="15" name="arrow-84"/>
          <p:cNvSpPr/>
          <p:nvPr/>
        </p:nvSpPr>
        <p:spPr>
          <a:xfrm>
            <a:off x="6217920" y="1737360"/>
            <a:ext cx="320040" cy="228600"/>
          </a:xfrm>
          <a:prstGeom prst="rightArrow">
            <a:avLst/>
          </a:prstGeom>
          <a:solidFill>
            <a:srgbClr val="C5D0D8"/>
          </a:solidFill>
          <a:ln/>
        </p:spPr>
      </p:sp>
      <p:sp>
        <p:nvSpPr>
          <p:cNvPr id="16" name="text-85"/>
          <p:cNvSpPr txBox="1"/>
          <p:nvPr/>
        </p:nvSpPr>
        <p:spPr>
          <a:xfrm>
            <a:off x="466344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View once</a:t>
            </a:r>
            <a:endParaRPr lang="en-US" sz="1800" dirty="0"/>
          </a:p>
        </p:txBody>
      </p:sp>
      <p:sp>
        <p:nvSpPr>
          <p:cNvPr id="17" name="text-86"/>
          <p:cNvSpPr txBox="1"/>
          <p:nvPr/>
        </p:nvSpPr>
        <p:spPr>
          <a:xfrm>
            <a:off x="4754880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File is decrypted in memory and streamed.</a:t>
            </a:r>
            <a:endParaRPr lang="en-US" sz="1400" dirty="0"/>
          </a:p>
        </p:txBody>
      </p:sp>
      <p:sp>
        <p:nvSpPr>
          <p:cNvPr id="18" name="badge-87"/>
          <p:cNvSpPr/>
          <p:nvPr/>
        </p:nvSpPr>
        <p:spPr>
          <a:xfrm>
            <a:off x="7269480" y="146304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9" name="icon-8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790" y="1657350"/>
            <a:ext cx="388620" cy="388620"/>
          </a:xfrm>
          <a:prstGeom prst="rect">
            <a:avLst/>
          </a:prstGeom>
        </p:spPr>
      </p:pic>
      <p:sp>
        <p:nvSpPr>
          <p:cNvPr id="20" name="text-89"/>
          <p:cNvSpPr txBox="1"/>
          <p:nvPr/>
        </p:nvSpPr>
        <p:spPr>
          <a:xfrm>
            <a:off x="6720840" y="2423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Expired</a:t>
            </a:r>
            <a:endParaRPr lang="en-US" sz="1800" dirty="0"/>
          </a:p>
        </p:txBody>
      </p:sp>
      <p:sp>
        <p:nvSpPr>
          <p:cNvPr id="21" name="text-90"/>
          <p:cNvSpPr txBox="1"/>
          <p:nvPr/>
        </p:nvSpPr>
        <p:spPr>
          <a:xfrm>
            <a:off x="6812280" y="28346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The approval is consumed the moment it is delivered.</a:t>
            </a:r>
            <a:endParaRPr lang="en-US" sz="1400" dirty="0"/>
          </a:p>
        </p:txBody>
      </p:sp>
      <p:sp>
        <p:nvSpPr>
          <p:cNvPr id="22" name="card-91"/>
          <p:cNvSpPr/>
          <p:nvPr/>
        </p:nvSpPr>
        <p:spPr>
          <a:xfrm>
            <a:off x="548640" y="38404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DDF3F1"/>
          </a:solidFill>
          <a:ln/>
        </p:spPr>
      </p:sp>
      <p:sp>
        <p:nvSpPr>
          <p:cNvPr id="23" name="text-92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</a:rPr>
              <a:t>A page refresh, a forwarded link or a stolen session cannot reopen the 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CamDetection: an AI guard on your side</a:t>
            </a:r>
            <a:endParaRPr lang="en-US" sz="3200" dirty="0"/>
          </a:p>
        </p:txBody>
      </p:sp>
      <p:sp>
        <p:nvSpPr>
          <p:cNvPr id="3" name="card-93"/>
          <p:cNvSpPr/>
          <p:nvPr/>
        </p:nvSpPr>
        <p:spPr>
          <a:xfrm>
            <a:off x="548640" y="1371600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1F5F8"/>
          </a:solidFill>
          <a:ln/>
        </p:spPr>
      </p:sp>
      <p:sp>
        <p:nvSpPr>
          <p:cNvPr id="4" name="badge-94"/>
          <p:cNvSpPr/>
          <p:nvPr/>
        </p:nvSpPr>
        <p:spPr>
          <a:xfrm>
            <a:off x="777240" y="1527048"/>
            <a:ext cx="566928" cy="566928"/>
          </a:xfrm>
          <a:prstGeom prst="ellipse">
            <a:avLst/>
          </a:prstGeom>
          <a:solidFill>
            <a:srgbClr val="12304A"/>
          </a:solidFill>
          <a:ln/>
        </p:spPr>
      </p:sp>
      <p:pic>
        <p:nvPicPr>
          <p:cNvPr id="5" name="icon-9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668780"/>
            <a:ext cx="283464" cy="283464"/>
          </a:xfrm>
          <a:prstGeom prst="rect">
            <a:avLst/>
          </a:prstGeom>
        </p:spPr>
      </p:pic>
      <p:sp>
        <p:nvSpPr>
          <p:cNvPr id="6" name="text-96"/>
          <p:cNvSpPr txBox="1"/>
          <p:nvPr/>
        </p:nvSpPr>
        <p:spPr>
          <a:xfrm>
            <a:off x="160020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</a:rPr>
              <a:t>Recording devices</a:t>
            </a:r>
            <a:endParaRPr lang="en-US" sz="1700" dirty="0"/>
          </a:p>
        </p:txBody>
      </p:sp>
      <p:sp>
        <p:nvSpPr>
          <p:cNvPr id="7" name="text-97"/>
          <p:cNvSpPr txBox="1"/>
          <p:nvPr/>
        </p:nvSpPr>
        <p:spPr>
          <a:xfrm>
            <a:off x="16002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Phones and cameras aimed at the screen</a:t>
            </a:r>
            <a:endParaRPr lang="en-US" sz="1400" dirty="0"/>
          </a:p>
        </p:txBody>
      </p:sp>
      <p:sp>
        <p:nvSpPr>
          <p:cNvPr id="8" name="card-98"/>
          <p:cNvSpPr/>
          <p:nvPr/>
        </p:nvSpPr>
        <p:spPr>
          <a:xfrm>
            <a:off x="548640" y="2395728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1F5F8"/>
          </a:solidFill>
          <a:ln/>
        </p:spPr>
      </p:sp>
      <p:sp>
        <p:nvSpPr>
          <p:cNvPr id="9" name="badge-99"/>
          <p:cNvSpPr/>
          <p:nvPr/>
        </p:nvSpPr>
        <p:spPr>
          <a:xfrm>
            <a:off x="777240" y="2551176"/>
            <a:ext cx="566928" cy="566928"/>
          </a:xfrm>
          <a:prstGeom prst="ellipse">
            <a:avLst/>
          </a:prstGeom>
          <a:solidFill>
            <a:srgbClr val="12304A"/>
          </a:solidFill>
          <a:ln/>
        </p:spPr>
      </p:sp>
      <p:pic>
        <p:nvPicPr>
          <p:cNvPr id="10" name="icon-10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692908"/>
            <a:ext cx="283464" cy="283464"/>
          </a:xfrm>
          <a:prstGeom prst="rect">
            <a:avLst/>
          </a:prstGeom>
        </p:spPr>
      </p:pic>
      <p:sp>
        <p:nvSpPr>
          <p:cNvPr id="11" name="text-101"/>
          <p:cNvSpPr txBox="1"/>
          <p:nvPr/>
        </p:nvSpPr>
        <p:spPr>
          <a:xfrm>
            <a:off x="160020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</a:rPr>
              <a:t>Onlookers</a:t>
            </a:r>
            <a:endParaRPr lang="en-US" sz="1700" dirty="0"/>
          </a:p>
        </p:txBody>
      </p:sp>
      <p:sp>
        <p:nvSpPr>
          <p:cNvPr id="12" name="text-102"/>
          <p:cNvSpPr txBox="1"/>
          <p:nvPr/>
        </p:nvSpPr>
        <p:spPr>
          <a:xfrm>
            <a:off x="160020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More than one face in front of the display</a:t>
            </a:r>
            <a:endParaRPr lang="en-US" sz="1400" dirty="0"/>
          </a:p>
        </p:txBody>
      </p:sp>
      <p:sp>
        <p:nvSpPr>
          <p:cNvPr id="13" name="card-103"/>
          <p:cNvSpPr/>
          <p:nvPr/>
        </p:nvSpPr>
        <p:spPr>
          <a:xfrm>
            <a:off x="548640" y="3419856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1F5F8"/>
          </a:solidFill>
          <a:ln/>
        </p:spPr>
      </p:sp>
      <p:sp>
        <p:nvSpPr>
          <p:cNvPr id="14" name="badge-104"/>
          <p:cNvSpPr/>
          <p:nvPr/>
        </p:nvSpPr>
        <p:spPr>
          <a:xfrm>
            <a:off x="777240" y="3575304"/>
            <a:ext cx="566928" cy="566928"/>
          </a:xfrm>
          <a:prstGeom prst="ellipse">
            <a:avLst/>
          </a:prstGeom>
          <a:solidFill>
            <a:srgbClr val="12304A"/>
          </a:solidFill>
          <a:ln/>
        </p:spPr>
      </p:sp>
      <p:pic>
        <p:nvPicPr>
          <p:cNvPr id="15" name="icon-10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17036"/>
            <a:ext cx="283464" cy="283464"/>
          </a:xfrm>
          <a:prstGeom prst="rect">
            <a:avLst/>
          </a:prstGeom>
        </p:spPr>
      </p:pic>
      <p:sp>
        <p:nvSpPr>
          <p:cNvPr id="16" name="text-106"/>
          <p:cNvSpPr txBox="1"/>
          <p:nvPr/>
        </p:nvSpPr>
        <p:spPr>
          <a:xfrm>
            <a:off x="1600200" y="3529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2B"/>
                </a:solidFill>
              </a:rPr>
              <a:t>Absence</a:t>
            </a:r>
            <a:endParaRPr lang="en-US" sz="1700" dirty="0"/>
          </a:p>
        </p:txBody>
      </p:sp>
      <p:sp>
        <p:nvSpPr>
          <p:cNvPr id="17" name="text-107"/>
          <p:cNvSpPr txBox="1"/>
          <p:nvPr/>
        </p:nvSpPr>
        <p:spPr>
          <a:xfrm>
            <a:off x="1600200" y="38770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The authorised user has stepped away</a:t>
            </a:r>
            <a:endParaRPr lang="en-US" sz="1400" dirty="0"/>
          </a:p>
        </p:txBody>
      </p:sp>
      <p:sp>
        <p:nvSpPr>
          <p:cNvPr id="18" name="card-108"/>
          <p:cNvSpPr/>
          <p:nvPr/>
        </p:nvSpPr>
        <p:spPr>
          <a:xfrm>
            <a:off x="5669280" y="1371600"/>
            <a:ext cx="2926080" cy="2916936"/>
          </a:xfrm>
          <a:prstGeom prst="roundRect">
            <a:avLst>
              <a:gd name="adj" fmla="val 3135"/>
            </a:avLst>
          </a:prstGeom>
          <a:solidFill>
            <a:srgbClr val="0B1B2B"/>
          </a:solidFill>
          <a:ln/>
        </p:spPr>
      </p:sp>
      <p:sp>
        <p:nvSpPr>
          <p:cNvPr id="19" name="text-109"/>
          <p:cNvSpPr txBox="1"/>
          <p:nvPr/>
        </p:nvSpPr>
        <p:spPr>
          <a:xfrm>
            <a:off x="5669280" y="1600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FD3C8"/>
                </a:solidFill>
              </a:rPr>
              <a:t>0</a:t>
            </a:r>
            <a:endParaRPr lang="en-US" sz="8000" dirty="0"/>
          </a:p>
        </p:txBody>
      </p:sp>
      <p:sp>
        <p:nvSpPr>
          <p:cNvPr id="20" name="text-110"/>
          <p:cNvSpPr txBox="1"/>
          <p:nvPr/>
        </p:nvSpPr>
        <p:spPr>
          <a:xfrm>
            <a:off x="5852160" y="2743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camera frames ever leave your device</a:t>
            </a:r>
            <a:endParaRPr lang="en-US" sz="1600" dirty="0"/>
          </a:p>
        </p:txBody>
      </p:sp>
      <p:sp>
        <p:nvSpPr>
          <p:cNvPr id="21" name="text-111"/>
          <p:cNvSpPr txBox="1"/>
          <p:nvPr/>
        </p:nvSpPr>
        <p:spPr>
          <a:xfrm>
            <a:off x="5852160" y="3474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EC"/>
                </a:solidFill>
              </a:rPr>
              <a:t>All inference runs in the browser. The server sees only event labels.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Smart, not jumpy</a:t>
            </a:r>
            <a:endParaRPr lang="en-US" sz="3200" dirty="0"/>
          </a:p>
        </p:txBody>
      </p:sp>
      <p:sp>
        <p:nvSpPr>
          <p:cNvPr id="3" name="card-112"/>
          <p:cNvSpPr/>
          <p:nvPr/>
        </p:nvSpPr>
        <p:spPr>
          <a:xfrm>
            <a:off x="548640" y="1371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1F5F8"/>
          </a:solidFill>
          <a:ln/>
        </p:spPr>
      </p:sp>
      <p:sp>
        <p:nvSpPr>
          <p:cNvPr id="4" name="text-113"/>
          <p:cNvSpPr txBox="1"/>
          <p:nvPr/>
        </p:nvSpPr>
        <p:spPr>
          <a:xfrm>
            <a:off x="7772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8C"/>
                </a:solidFill>
              </a:rPr>
              <a:t>Raw AI output</a:t>
            </a:r>
            <a:endParaRPr lang="en-US" sz="1800" dirty="0"/>
          </a:p>
        </p:txBody>
      </p:sp>
      <p:sp>
        <p:nvSpPr>
          <p:cNvPr id="5" name="text-114"/>
          <p:cNvSpPr txBox="1"/>
          <p:nvPr/>
        </p:nvSpPr>
        <p:spPr>
          <a:xfrm>
            <a:off x="777240" y="20574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E4C5A"/>
                </a:solidFill>
              </a:rPr>
              <a:t>Flickers from frame to frame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E4C5A"/>
                </a:solidFill>
              </a:rPr>
              <a:t>One glitch triggers a false alarm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C5A"/>
                </a:solidFill>
              </a:rPr>
              <a:t>The screen strobes on and off</a:t>
            </a:r>
            <a:endParaRPr lang="en-US" sz="1600" dirty="0"/>
          </a:p>
        </p:txBody>
      </p:sp>
      <p:sp>
        <p:nvSpPr>
          <p:cNvPr id="6" name="arrow-115"/>
          <p:cNvSpPr/>
          <p:nvPr/>
        </p:nvSpPr>
        <p:spPr>
          <a:xfrm>
            <a:off x="4206240" y="2697480"/>
            <a:ext cx="731520" cy="365760"/>
          </a:xfrm>
          <a:prstGeom prst="rightArrow">
            <a:avLst/>
          </a:prstGeom>
          <a:solidFill>
            <a:srgbClr val="14A3A3"/>
          </a:solidFill>
          <a:ln/>
        </p:spPr>
      </p:sp>
      <p:sp>
        <p:nvSpPr>
          <p:cNvPr id="7" name="card-116"/>
          <p:cNvSpPr/>
          <p:nvPr/>
        </p:nvSpPr>
        <p:spPr>
          <a:xfrm>
            <a:off x="5029200" y="137160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12304A"/>
          </a:solidFill>
          <a:ln/>
        </p:spPr>
      </p:sp>
      <p:sp>
        <p:nvSpPr>
          <p:cNvPr id="8" name="text-117"/>
          <p:cNvSpPr txBox="1"/>
          <p:nvPr/>
        </p:nvSpPr>
        <p:spPr>
          <a:xfrm>
            <a:off x="525780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D3C8"/>
                </a:solidFill>
              </a:rPr>
              <a:t>SecureLayer risk engine</a:t>
            </a:r>
            <a:endParaRPr lang="en-US" sz="1800" dirty="0"/>
          </a:p>
        </p:txBody>
      </p:sp>
      <p:sp>
        <p:nvSpPr>
          <p:cNvPr id="9" name="text-118"/>
          <p:cNvSpPr txBox="1"/>
          <p:nvPr/>
        </p:nvSpPr>
        <p:spPr>
          <a:xfrm>
            <a:off x="5257800" y="20574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Confirms a threat across consecutive frames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Tolerates a sneeze or a glance away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Stays locked until the scene is truly clear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viewer built to leak nothing</a:t>
            </a:r>
            <a:endParaRPr lang="en-US" sz="3200" dirty="0"/>
          </a:p>
        </p:txBody>
      </p:sp>
      <p:sp>
        <p:nvSpPr>
          <p:cNvPr id="3" name="badge-119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4" name="icon-1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668780"/>
            <a:ext cx="320040" cy="320040"/>
          </a:xfrm>
          <a:prstGeom prst="rect">
            <a:avLst/>
          </a:prstGeom>
        </p:spPr>
      </p:pic>
      <p:sp>
        <p:nvSpPr>
          <p:cNvPr id="5" name="text-121"/>
          <p:cNvSpPr txBox="1"/>
          <p:nvPr/>
        </p:nvSpPr>
        <p:spPr>
          <a:xfrm>
            <a:off x="14173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Memory only</a:t>
            </a:r>
            <a:endParaRPr lang="en-US" sz="1800" dirty="0"/>
          </a:p>
        </p:txBody>
      </p:sp>
      <p:sp>
        <p:nvSpPr>
          <p:cNvPr id="6" name="text-122"/>
          <p:cNvSpPr txBox="1"/>
          <p:nvPr/>
        </p:nvSpPr>
        <p:spPr>
          <a:xfrm>
            <a:off x="1417320" y="18013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Decrypted in the browser, never saved to disk or cache.</a:t>
            </a:r>
            <a:endParaRPr lang="en-US" sz="1400" dirty="0"/>
          </a:p>
        </p:txBody>
      </p:sp>
      <p:sp>
        <p:nvSpPr>
          <p:cNvPr id="7" name="badge-123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8" name="icon-1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674620"/>
            <a:ext cx="320040" cy="320040"/>
          </a:xfrm>
          <a:prstGeom prst="rect">
            <a:avLst/>
          </a:prstGeom>
        </p:spPr>
      </p:pic>
      <p:sp>
        <p:nvSpPr>
          <p:cNvPr id="9" name="text-125"/>
          <p:cNvSpPr txBox="1"/>
          <p:nvPr/>
        </p:nvSpPr>
        <p:spPr>
          <a:xfrm>
            <a:off x="141732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Forensic watermark</a:t>
            </a:r>
            <a:endParaRPr lang="en-US" sz="1800" dirty="0"/>
          </a:p>
        </p:txBody>
      </p:sp>
      <p:sp>
        <p:nvSpPr>
          <p:cNvPr id="10" name="text-126"/>
          <p:cNvSpPr txBox="1"/>
          <p:nvPr/>
        </p:nvSpPr>
        <p:spPr>
          <a:xfrm>
            <a:off x="1417320" y="2807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Viewer identity and time stamped across every page.</a:t>
            </a:r>
            <a:endParaRPr lang="en-US" sz="1400" dirty="0"/>
          </a:p>
        </p:txBody>
      </p:sp>
      <p:sp>
        <p:nvSpPr>
          <p:cNvPr id="11" name="badge-127"/>
          <p:cNvSpPr/>
          <p:nvPr/>
        </p:nvSpPr>
        <p:spPr>
          <a:xfrm>
            <a:off x="548640" y="3520440"/>
            <a:ext cx="640080" cy="640080"/>
          </a:xfrm>
          <a:prstGeom prst="ellipse">
            <a:avLst/>
          </a:prstGeom>
          <a:solidFill>
            <a:srgbClr val="14A3A3"/>
          </a:solidFill>
          <a:ln/>
        </p:spPr>
      </p:sp>
      <p:pic>
        <p:nvPicPr>
          <p:cNvPr id="12" name="icon-12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680460"/>
            <a:ext cx="320040" cy="320040"/>
          </a:xfrm>
          <a:prstGeom prst="rect">
            <a:avLst/>
          </a:prstGeom>
        </p:spPr>
      </p:pic>
      <p:sp>
        <p:nvSpPr>
          <p:cNvPr id="13" name="text-129"/>
          <p:cNvSpPr txBox="1"/>
          <p:nvPr/>
        </p:nvSpPr>
        <p:spPr>
          <a:xfrm>
            <a:off x="141732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2B"/>
                </a:solidFill>
              </a:rPr>
              <a:t>Actions blocked</a:t>
            </a:r>
            <a:endParaRPr lang="en-US" sz="1800" dirty="0"/>
          </a:p>
        </p:txBody>
      </p:sp>
      <p:sp>
        <p:nvSpPr>
          <p:cNvPr id="14" name="text-130"/>
          <p:cNvSpPr txBox="1"/>
          <p:nvPr/>
        </p:nvSpPr>
        <p:spPr>
          <a:xfrm>
            <a:off x="1417320" y="38130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Copy, print, save and right-click are disabled.</a:t>
            </a:r>
            <a:endParaRPr lang="en-US" sz="1400" dirty="0"/>
          </a:p>
        </p:txBody>
      </p:sp>
      <p:sp>
        <p:nvSpPr>
          <p:cNvPr id="15" name="card-131"/>
          <p:cNvSpPr/>
          <p:nvPr/>
        </p:nvSpPr>
        <p:spPr>
          <a:xfrm>
            <a:off x="5669280" y="1371600"/>
            <a:ext cx="2926080" cy="30175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5D0D8"/>
            </a:solidFill>
            <a:prstDash val="solid"/>
          </a:ln>
        </p:spPr>
      </p:sp>
      <p:sp>
        <p:nvSpPr>
          <p:cNvPr id="16" name="docline-132"/>
          <p:cNvSpPr/>
          <p:nvPr/>
        </p:nvSpPr>
        <p:spPr>
          <a:xfrm>
            <a:off x="5897880" y="1600200"/>
            <a:ext cx="2468880" cy="128016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7" name="docline-133"/>
          <p:cNvSpPr/>
          <p:nvPr/>
        </p:nvSpPr>
        <p:spPr>
          <a:xfrm>
            <a:off x="5897880" y="2057400"/>
            <a:ext cx="2468880" cy="128016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8" name="docline-134"/>
          <p:cNvSpPr/>
          <p:nvPr/>
        </p:nvSpPr>
        <p:spPr>
          <a:xfrm>
            <a:off x="5897880" y="2514600"/>
            <a:ext cx="1463040" cy="128016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9" name="docline-135"/>
          <p:cNvSpPr/>
          <p:nvPr/>
        </p:nvSpPr>
        <p:spPr>
          <a:xfrm>
            <a:off x="5897880" y="2971800"/>
            <a:ext cx="2468880" cy="128016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20" name="docline-136"/>
          <p:cNvSpPr/>
          <p:nvPr/>
        </p:nvSpPr>
        <p:spPr>
          <a:xfrm>
            <a:off x="5897880" y="3429000"/>
            <a:ext cx="2468880" cy="128016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21" name="docline-137"/>
          <p:cNvSpPr/>
          <p:nvPr/>
        </p:nvSpPr>
        <p:spPr>
          <a:xfrm>
            <a:off x="5897880" y="3886200"/>
            <a:ext cx="1463040" cy="128016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22" name="text-138"/>
          <p:cNvSpPr txBox="1"/>
          <p:nvPr/>
        </p:nvSpPr>
        <p:spPr>
          <a:xfrm rot="19800000">
            <a:off x="58064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A3A3"/>
                </a:solidFill>
              </a:rPr>
              <a:t>viewer@org.com  11 Oct 02:36</a:t>
            </a:r>
            <a:endParaRPr lang="en-US" sz="1200" dirty="0"/>
          </a:p>
        </p:txBody>
      </p:sp>
      <p:sp>
        <p:nvSpPr>
          <p:cNvPr id="23" name="text-139"/>
          <p:cNvSpPr txBox="1"/>
          <p:nvPr/>
        </p:nvSpPr>
        <p:spPr>
          <a:xfrm rot="19800000">
            <a:off x="580644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A3A3"/>
                </a:solidFill>
              </a:rPr>
              <a:t>viewer@org.com  11 Oct 02:36</a:t>
            </a:r>
            <a:endParaRPr lang="en-US" sz="1200" dirty="0"/>
          </a:p>
        </p:txBody>
      </p:sp>
      <p:sp>
        <p:nvSpPr>
          <p:cNvPr id="24" name="text-140"/>
          <p:cNvSpPr txBox="1"/>
          <p:nvPr/>
        </p:nvSpPr>
        <p:spPr>
          <a:xfrm rot="19800000">
            <a:off x="580644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A3A3"/>
                </a:solidFill>
              </a:rPr>
              <a:t>viewer@org.com  11 Oct 02:36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Hardened backend</a:t>
            </a:r>
            <a:endParaRPr lang="en-US" sz="3200" dirty="0"/>
          </a:p>
        </p:txBody>
      </p:sp>
      <p:sp>
        <p:nvSpPr>
          <p:cNvPr id="3" name="card-141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/>
        </p:spPr>
      </p:sp>
      <p:sp>
        <p:nvSpPr>
          <p:cNvPr id="4" name="text-142"/>
          <p:cNvSpPr txBox="1"/>
          <p:nvPr/>
        </p:nvSpPr>
        <p:spPr>
          <a:xfrm>
            <a:off x="82296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A3A3"/>
                </a:solidFill>
              </a:rPr>
              <a:t>AES-256</a:t>
            </a:r>
            <a:endParaRPr lang="en-US" sz="2800" dirty="0"/>
          </a:p>
        </p:txBody>
      </p:sp>
      <p:sp>
        <p:nvSpPr>
          <p:cNvPr id="5" name="text-143"/>
          <p:cNvSpPr txBox="1"/>
          <p:nvPr/>
        </p:nvSpPr>
        <p:spPr>
          <a:xfrm>
            <a:off x="82296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Every file encrypted before it touches disk</a:t>
            </a:r>
            <a:endParaRPr lang="en-US" sz="1400" dirty="0"/>
          </a:p>
        </p:txBody>
      </p:sp>
      <p:sp>
        <p:nvSpPr>
          <p:cNvPr id="6" name="card-144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/>
        </p:spPr>
      </p:sp>
      <p:sp>
        <p:nvSpPr>
          <p:cNvPr id="7" name="text-145"/>
          <p:cNvSpPr txBox="1"/>
          <p:nvPr/>
        </p:nvSpPr>
        <p:spPr>
          <a:xfrm>
            <a:off x="493776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A3A3"/>
                </a:solidFill>
              </a:rPr>
              <a:t>Passwordless</a:t>
            </a:r>
            <a:endParaRPr lang="en-US" sz="2800" dirty="0"/>
          </a:p>
        </p:txBody>
      </p:sp>
      <p:sp>
        <p:nvSpPr>
          <p:cNvPr id="8" name="text-146"/>
          <p:cNvSpPr txBox="1"/>
          <p:nvPr/>
        </p:nvSpPr>
        <p:spPr>
          <a:xfrm>
            <a:off x="493776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One-time codes replace passwords entirely</a:t>
            </a:r>
            <a:endParaRPr lang="en-US" sz="1400" dirty="0"/>
          </a:p>
        </p:txBody>
      </p:sp>
      <p:sp>
        <p:nvSpPr>
          <p:cNvPr id="9" name="card-147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/>
        </p:spPr>
      </p:sp>
      <p:sp>
        <p:nvSpPr>
          <p:cNvPr id="10" name="text-148"/>
          <p:cNvSpPr txBox="1"/>
          <p:nvPr/>
        </p:nvSpPr>
        <p:spPr>
          <a:xfrm>
            <a:off x="82296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A3A3"/>
                </a:solidFill>
              </a:rPr>
              <a:t>Short sessions</a:t>
            </a:r>
            <a:endParaRPr lang="en-US" sz="2800" dirty="0"/>
          </a:p>
        </p:txBody>
      </p:sp>
      <p:sp>
        <p:nvSpPr>
          <p:cNvPr id="11" name="text-149"/>
          <p:cNvSpPr txBox="1"/>
          <p:nvPr/>
        </p:nvSpPr>
        <p:spPr>
          <a:xfrm>
            <a:off x="82296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Tokens expire fast and rotate on every refresh</a:t>
            </a:r>
            <a:endParaRPr lang="en-US" sz="1400" dirty="0"/>
          </a:p>
        </p:txBody>
      </p:sp>
      <p:sp>
        <p:nvSpPr>
          <p:cNvPr id="12" name="card-150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1F5F8"/>
          </a:solidFill>
          <a:ln/>
        </p:spPr>
      </p:sp>
      <p:sp>
        <p:nvSpPr>
          <p:cNvPr id="13" name="text-151"/>
          <p:cNvSpPr txBox="1"/>
          <p:nvPr/>
        </p:nvSpPr>
        <p:spPr>
          <a:xfrm>
            <a:off x="4937760" y="3108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A3A3"/>
                </a:solidFill>
              </a:rPr>
              <a:t>Audit trail</a:t>
            </a:r>
            <a:endParaRPr lang="en-US" sz="2800" dirty="0"/>
          </a:p>
        </p:txBody>
      </p:sp>
      <p:sp>
        <p:nvSpPr>
          <p:cNvPr id="14" name="text-152"/>
          <p:cNvSpPr txBox="1"/>
          <p:nvPr/>
        </p:nvSpPr>
        <p:spPr>
          <a:xfrm>
            <a:off x="493776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Append-only record of every sensitive action</a:t>
            </a:r>
            <a:endParaRPr lang="en-US" sz="1400" dirty="0"/>
          </a:p>
        </p:txBody>
      </p:sp>
      <p:sp>
        <p:nvSpPr>
          <p:cNvPr id="15" name="text-153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</a:rPr>
              <a:t>Plus role-based access, strict origin rules and tiered rate limiting on every endpoint.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makes SecureLayer different</a:t>
            </a:r>
            <a:endParaRPr lang="en-US" sz="3200" dirty="0"/>
          </a:p>
        </p:txBody>
      </p:sp>
      <p:sp>
        <p:nvSpPr>
          <p:cNvPr id="3" name="card-154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4" name="text-155"/>
          <p:cNvSpPr txBox="1"/>
          <p:nvPr/>
        </p:nvSpPr>
        <p:spPr>
          <a:xfrm>
            <a:off x="77724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A3A3"/>
                </a:solidFill>
              </a:rPr>
              <a:t>01</a:t>
            </a:r>
            <a:endParaRPr lang="en-US" sz="3200" dirty="0"/>
          </a:p>
        </p:txBody>
      </p:sp>
      <p:sp>
        <p:nvSpPr>
          <p:cNvPr id="5" name="text-156"/>
          <p:cNvSpPr txBox="1"/>
          <p:nvPr/>
        </p:nvSpPr>
        <p:spPr>
          <a:xfrm>
            <a:off x="164592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</a:rPr>
              <a:t>Protects the screen, not just the file</a:t>
            </a:r>
            <a:endParaRPr lang="en-US" sz="1600" dirty="0"/>
          </a:p>
        </p:txBody>
      </p:sp>
      <p:sp>
        <p:nvSpPr>
          <p:cNvPr id="6" name="text-157"/>
          <p:cNvSpPr txBox="1"/>
          <p:nvPr/>
        </p:nvSpPr>
        <p:spPr>
          <a:xfrm>
            <a:off x="164592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Security continues while the document is visible.</a:t>
            </a:r>
            <a:endParaRPr lang="en-US" sz="1400" dirty="0"/>
          </a:p>
        </p:txBody>
      </p:sp>
      <p:sp>
        <p:nvSpPr>
          <p:cNvPr id="7" name="card-158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-159"/>
          <p:cNvSpPr txBox="1"/>
          <p:nvPr/>
        </p:nvSpPr>
        <p:spPr>
          <a:xfrm>
            <a:off x="489204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A3A3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text-160"/>
          <p:cNvSpPr txBox="1"/>
          <p:nvPr/>
        </p:nvSpPr>
        <p:spPr>
          <a:xfrm>
            <a:off x="576072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</a:rPr>
              <a:t>Privacy-first AI</a:t>
            </a:r>
            <a:endParaRPr lang="en-US" sz="1600" dirty="0"/>
          </a:p>
        </p:txBody>
      </p:sp>
      <p:sp>
        <p:nvSpPr>
          <p:cNvPr id="10" name="text-161"/>
          <p:cNvSpPr txBox="1"/>
          <p:nvPr/>
        </p:nvSpPr>
        <p:spPr>
          <a:xfrm>
            <a:off x="576072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Vision runs on-device; no video or face data is ever uploaded.</a:t>
            </a:r>
            <a:endParaRPr lang="en-US" sz="1400" dirty="0"/>
          </a:p>
        </p:txBody>
      </p:sp>
      <p:sp>
        <p:nvSpPr>
          <p:cNvPr id="11" name="card-162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text-163"/>
          <p:cNvSpPr txBox="1"/>
          <p:nvPr/>
        </p:nvSpPr>
        <p:spPr>
          <a:xfrm>
            <a:off x="77724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A3A3"/>
                </a:solidFill>
              </a:rPr>
              <a:t>03</a:t>
            </a:r>
            <a:endParaRPr lang="en-US" sz="3200" dirty="0"/>
          </a:p>
        </p:txBody>
      </p:sp>
      <p:sp>
        <p:nvSpPr>
          <p:cNvPr id="13" name="text-164"/>
          <p:cNvSpPr txBox="1"/>
          <p:nvPr/>
        </p:nvSpPr>
        <p:spPr>
          <a:xfrm>
            <a:off x="164592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</a:rPr>
              <a:t>Every leak is traceable</a:t>
            </a:r>
            <a:endParaRPr lang="en-US" sz="1600" dirty="0"/>
          </a:p>
        </p:txBody>
      </p:sp>
      <p:sp>
        <p:nvSpPr>
          <p:cNvPr id="14" name="text-165"/>
          <p:cNvSpPr txBox="1"/>
          <p:nvPr/>
        </p:nvSpPr>
        <p:spPr>
          <a:xfrm>
            <a:off x="1645920" y="36758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A visible identity stamp and a full audit trail.</a:t>
            </a:r>
            <a:endParaRPr lang="en-US" sz="1400" dirty="0"/>
          </a:p>
        </p:txBody>
      </p:sp>
      <p:sp>
        <p:nvSpPr>
          <p:cNvPr id="15" name="card-166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text-167"/>
          <p:cNvSpPr txBox="1"/>
          <p:nvPr/>
        </p:nvSpPr>
        <p:spPr>
          <a:xfrm>
            <a:off x="489204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A3A3"/>
                </a:solidFill>
              </a:rPr>
              <a:t>04</a:t>
            </a:r>
            <a:endParaRPr lang="en-US" sz="3200" dirty="0"/>
          </a:p>
        </p:txBody>
      </p:sp>
      <p:sp>
        <p:nvSpPr>
          <p:cNvPr id="17" name="text-168"/>
          <p:cNvSpPr txBox="1"/>
          <p:nvPr/>
        </p:nvSpPr>
        <p:spPr>
          <a:xfrm>
            <a:off x="5760720" y="3108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</a:rPr>
              <a:t>Access that self-destructs</a:t>
            </a:r>
            <a:endParaRPr lang="en-US" sz="1600" dirty="0"/>
          </a:p>
        </p:txBody>
      </p:sp>
      <p:sp>
        <p:nvSpPr>
          <p:cNvPr id="18" name="text-169"/>
          <p:cNvSpPr txBox="1"/>
          <p:nvPr/>
        </p:nvSpPr>
        <p:spPr>
          <a:xfrm>
            <a:off x="5760720" y="36758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A"/>
                </a:solidFill>
              </a:rPr>
              <a:t>One approval equals one view. No reusable links.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threat has a defence</a:t>
            </a:r>
            <a:endParaRPr lang="en-US" sz="3200" dirty="0"/>
          </a:p>
        </p:txBody>
      </p:sp>
      <p:graphicFrame>
        <p:nvGraphicFramePr>
          <p:cNvPr id="13" name="threa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937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Threat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Defence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Phone photographing the screen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AI detects the device and shields the display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Shoulder surfing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Multi-face detection blocks the view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Walking away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Absence detection hides the content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Copy, print, save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Blocked inside an in-memory viewer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Link sharing and replay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Single-use approval expires on delivery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Database or disk theft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AES-256-GCM encrypted storage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1B2B"/>
                          </a:solidFill>
                        </a:rPr>
                        <a:t>Stolen passwords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A"/>
                          </a:solidFill>
                        </a:rPr>
                        <a:t>No passwords; rate-limited one-time codes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0"/>
          <p:cNvSpPr txBox="1"/>
          <p:nvPr/>
        </p:nvSpPr>
        <p:spPr>
          <a:xfrm>
            <a:off x="640080" y="8229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Protection that follows the document into the room</a:t>
            </a:r>
            <a:endParaRPr lang="en-US" sz="3800" dirty="0"/>
          </a:p>
        </p:txBody>
      </p:sp>
      <p:sp>
        <p:nvSpPr>
          <p:cNvPr id="3" name="text-171"/>
          <p:cNvSpPr txBox="1"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8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4" name="card-172"/>
          <p:cNvSpPr/>
          <p:nvPr/>
        </p:nvSpPr>
        <p:spPr>
          <a:xfrm>
            <a:off x="640080" y="288036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2304A"/>
          </a:solidFill>
          <a:ln/>
        </p:spPr>
      </p:sp>
      <p:sp>
        <p:nvSpPr>
          <p:cNvPr id="5" name="text-173"/>
          <p:cNvSpPr txBox="1"/>
          <p:nvPr/>
        </p:nvSpPr>
        <p:spPr>
          <a:xfrm>
            <a:off x="822960" y="2880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dedicated phone-detection model</a:t>
            </a:r>
            <a:endParaRPr lang="en-US" sz="1400" dirty="0"/>
          </a:p>
        </p:txBody>
      </p:sp>
      <p:sp>
        <p:nvSpPr>
          <p:cNvPr id="6" name="card-174"/>
          <p:cNvSpPr/>
          <p:nvPr/>
        </p:nvSpPr>
        <p:spPr>
          <a:xfrm>
            <a:off x="3337560" y="288036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2304A"/>
          </a:solidFill>
          <a:ln/>
        </p:spPr>
      </p:sp>
      <p:sp>
        <p:nvSpPr>
          <p:cNvPr id="7" name="text-175"/>
          <p:cNvSpPr txBox="1"/>
          <p:nvPr/>
        </p:nvSpPr>
        <p:spPr>
          <a:xfrm>
            <a:off x="3520440" y="2880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Gaze and head-pose awareness</a:t>
            </a:r>
            <a:endParaRPr lang="en-US" sz="1400" dirty="0"/>
          </a:p>
        </p:txBody>
      </p:sp>
      <p:sp>
        <p:nvSpPr>
          <p:cNvPr id="8" name="card-176"/>
          <p:cNvSpPr/>
          <p:nvPr/>
        </p:nvSpPr>
        <p:spPr>
          <a:xfrm>
            <a:off x="6035040" y="288036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2304A"/>
          </a:solidFill>
          <a:ln/>
        </p:spPr>
      </p:sp>
      <p:sp>
        <p:nvSpPr>
          <p:cNvPr id="9" name="text-177"/>
          <p:cNvSpPr txBox="1"/>
          <p:nvPr/>
        </p:nvSpPr>
        <p:spPr>
          <a:xfrm>
            <a:off x="6217920" y="2880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Managed key rotation</a:t>
            </a:r>
            <a:endParaRPr lang="en-US" sz="1400" dirty="0"/>
          </a:p>
        </p:txBody>
      </p:sp>
      <p:sp>
        <p:nvSpPr>
          <p:cNvPr id="10" name="text-178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  |  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eLayer">
  <a:themeElements>
    <a:clrScheme name="SecureLayer">
      <a:dk1>
        <a:srgbClr val="0B1B2B"/>
      </a:dk1>
      <a:lt1>
        <a:srgbClr val="FFFFFF"/>
      </a:lt1>
      <a:dk2>
        <a:srgbClr val="12304A"/>
      </a:dk2>
      <a:lt2>
        <a:srgbClr val="F1F5F8"/>
      </a:lt2>
      <a:accent1>
        <a:srgbClr val="14A3A3"/>
      </a:accent1>
      <a:accent2>
        <a:srgbClr val="0B3C5D"/>
      </a:accent2>
      <a:accent3>
        <a:srgbClr val="E4572E"/>
      </a:accent3>
      <a:accent4>
        <a:srgbClr val="5FD3C8"/>
      </a:accent4>
      <a:accent5>
        <a:srgbClr val="6B7C8C"/>
      </a:accent5>
      <a:accent6>
        <a:srgbClr val="F2B84B"/>
      </a:accent6>
      <a:hlink>
        <a:srgbClr val="14A3A3"/>
      </a:hlink>
      <a:folHlink>
        <a:srgbClr val="6B7C8C"/>
      </a:folHlink>
    </a:clrScheme>
    <a:fontScheme name="SecureLay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SecureLayer</dc:title>
  <dc:subject>PptxGenJS Presentation</dc:subject>
  <dc:creator>SecureLayer Team</dc:creator>
  <cp:lastModifiedBy>SecureLayer Team</cp:lastModifiedBy>
  <cp:revision>1</cp:revision>
  <dcterms:created xsi:type="dcterms:W3CDTF">2026-10-11T07:43:36Z</dcterms:created>
  <dcterms:modified xsi:type="dcterms:W3CDTF">2026-10-11T07:43:36Z</dcterms:modified>
</cp:coreProperties>
</file>